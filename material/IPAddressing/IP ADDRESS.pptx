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10"/>
  </p:notesMasterIdLst>
  <p:handoutMasterIdLst>
    <p:handoutMasterId r:id="rId11"/>
  </p:handoutMasterIdLst>
  <p:sldIdLst>
    <p:sldId id="394" r:id="rId2"/>
    <p:sldId id="397" r:id="rId3"/>
    <p:sldId id="398" r:id="rId4"/>
    <p:sldId id="399" r:id="rId5"/>
    <p:sldId id="445" r:id="rId6"/>
    <p:sldId id="401" r:id="rId7"/>
    <p:sldId id="402" r:id="rId8"/>
    <p:sldId id="403" r:id="rId9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206C271-A17B-4745-8409-D19C184D271D}">
          <p14:sldIdLst>
            <p14:sldId id="394"/>
            <p14:sldId id="397"/>
            <p14:sldId id="398"/>
            <p14:sldId id="399"/>
            <p14:sldId id="445"/>
            <p14:sldId id="401"/>
            <p14:sldId id="402"/>
            <p14:sldId id="40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 autoAdjust="0"/>
    <p:restoredTop sz="90232" autoAdjust="0"/>
  </p:normalViewPr>
  <p:slideViewPr>
    <p:cSldViewPr snapToGrid="0">
      <p:cViewPr>
        <p:scale>
          <a:sx n="75" d="100"/>
          <a:sy n="75" d="100"/>
        </p:scale>
        <p:origin x="-2664" y="-7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2520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r>
              <a:rPr lang="en-US" smtClean="0"/>
              <a:t>Christo Wilson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r>
              <a:rPr lang="en-US" smtClean="0"/>
              <a:t>8/22/2012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r>
              <a:rPr lang="en-US" smtClean="0"/>
              <a:t>Defense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03CF3CE8-99B9-4E0D-8156-BD8D62DE6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9905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r>
              <a:rPr lang="en-US" smtClean="0"/>
              <a:t>Christo Wilson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r>
              <a:rPr lang="en-US" smtClean="0"/>
              <a:t>8/22/2012</a:t>
            </a:r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r>
              <a:rPr lang="en-US" smtClean="0"/>
              <a:t>Defense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77FBF96E-C445-4FF1-86A3-96F5585B6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9080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time, show</a:t>
            </a:r>
            <a:r>
              <a:rPr lang="en-US" baseline="0" dirty="0" smtClean="0"/>
              <a:t> correlation between lookup speed and maximum line rate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Christo Wilson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 smtClean="0"/>
              <a:t>8/22/2012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Defense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FBF96E-C445-4FF1-86A3-96F5585B6D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8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Christo Wilson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 smtClean="0"/>
              <a:t>8/22/2012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Defense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FBF96E-C445-4FF1-86A3-96F5585B6D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31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56270"/>
            <a:ext cx="533400" cy="304800"/>
          </a:xfrm>
        </p:spPr>
        <p:txBody>
          <a:bodyPr/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fld id="{283B9EA5-CE9A-4950-A80C-5ADF06B45B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105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2286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3048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3048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572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83B9EA5-CE9A-4950-A80C-5ADF06B45BB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-4634" y="1257917"/>
            <a:ext cx="595184" cy="260728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800" b="1">
                <a:solidFill>
                  <a:srgbClr val="FFFFFF"/>
                </a:solidFill>
              </a:defRPr>
            </a:lvl1pPr>
          </a:lstStyle>
          <a:p>
            <a:fld id="{283B9EA5-CE9A-4950-A80C-5ADF06B45B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Addressing Schemes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283B9EA5-CE9A-4950-A80C-5ADF06B45BB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Flat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.g. each host is identified by a 48-bit MAC address</a:t>
            </a:r>
          </a:p>
          <a:p>
            <a:pPr lvl="1"/>
            <a:r>
              <a:rPr lang="en-US" dirty="0" smtClean="0"/>
              <a:t>Router needs an entry for every host in the world</a:t>
            </a:r>
          </a:p>
          <a:p>
            <a:pPr lvl="2"/>
            <a:r>
              <a:rPr lang="en-US" dirty="0" smtClean="0"/>
              <a:t>Too big</a:t>
            </a:r>
          </a:p>
          <a:p>
            <a:pPr lvl="2"/>
            <a:r>
              <a:rPr lang="en-US" dirty="0" smtClean="0"/>
              <a:t>Too hard to maintain (hosts come and go all the time)</a:t>
            </a:r>
          </a:p>
          <a:p>
            <a:pPr lvl="2"/>
            <a:r>
              <a:rPr lang="en-US" dirty="0" smtClean="0"/>
              <a:t>Too slow (more later)</a:t>
            </a:r>
          </a:p>
          <a:p>
            <a:r>
              <a:rPr lang="en-US" dirty="0" smtClean="0"/>
              <a:t>Hierarchy</a:t>
            </a:r>
          </a:p>
          <a:p>
            <a:pPr lvl="1"/>
            <a:r>
              <a:rPr lang="en-US" dirty="0" smtClean="0"/>
              <a:t>Addresses broken down into segments</a:t>
            </a:r>
          </a:p>
          <a:p>
            <a:pPr lvl="1"/>
            <a:r>
              <a:rPr lang="en-US" dirty="0" smtClean="0"/>
              <a:t>Each segment has a different level of specificity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Hierarchy Example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283B9EA5-CE9A-4950-A80C-5ADF06B45B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loud 4"/>
          <p:cNvSpPr/>
          <p:nvPr/>
        </p:nvSpPr>
        <p:spPr>
          <a:xfrm rot="1048252">
            <a:off x="203670" y="1736711"/>
            <a:ext cx="4207178" cy="3566548"/>
          </a:xfrm>
          <a:prstGeom prst="cloud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6"/>
          <p:cNvSpPr/>
          <p:nvPr/>
        </p:nvSpPr>
        <p:spPr>
          <a:xfrm>
            <a:off x="745252" y="2280944"/>
            <a:ext cx="1696497" cy="1362405"/>
          </a:xfrm>
          <a:prstGeom prst="cloud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7"/>
          <p:cNvSpPr/>
          <p:nvPr/>
        </p:nvSpPr>
        <p:spPr>
          <a:xfrm>
            <a:off x="1673886" y="3394225"/>
            <a:ext cx="1696497" cy="1362405"/>
          </a:xfrm>
          <a:prstGeom prst="cloud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731074" y="1738645"/>
            <a:ext cx="596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1**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2258143" y="2141399"/>
            <a:ext cx="647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10*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964386" y="3016025"/>
            <a:ext cx="625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11*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361332" y="2483863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100</a:t>
            </a:r>
            <a:endParaRPr 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361332" y="2980123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101</a:t>
            </a:r>
            <a:endParaRPr lang="en-US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2275948" y="3579167"/>
            <a:ext cx="676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110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2275948" y="4075427"/>
            <a:ext cx="653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111</a:t>
            </a:r>
            <a:endParaRPr lang="en-US" sz="2400" dirty="0"/>
          </a:p>
        </p:txBody>
      </p:sp>
      <p:sp>
        <p:nvSpPr>
          <p:cNvPr id="35" name="Cloud 34"/>
          <p:cNvSpPr/>
          <p:nvPr/>
        </p:nvSpPr>
        <p:spPr>
          <a:xfrm rot="1048252">
            <a:off x="4617002" y="3249161"/>
            <a:ext cx="4207178" cy="3566548"/>
          </a:xfrm>
          <a:prstGeom prst="cloud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loud 35"/>
          <p:cNvSpPr/>
          <p:nvPr/>
        </p:nvSpPr>
        <p:spPr>
          <a:xfrm>
            <a:off x="5158584" y="3793394"/>
            <a:ext cx="1696497" cy="1362405"/>
          </a:xfrm>
          <a:prstGeom prst="cloud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loud 36"/>
          <p:cNvSpPr/>
          <p:nvPr/>
        </p:nvSpPr>
        <p:spPr>
          <a:xfrm>
            <a:off x="6087218" y="4906675"/>
            <a:ext cx="1696497" cy="1362405"/>
          </a:xfrm>
          <a:prstGeom prst="cloud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144406" y="3251095"/>
            <a:ext cx="596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  <a:r>
              <a:rPr lang="en-US" sz="2400" dirty="0" smtClean="0"/>
              <a:t>**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6608896" y="3653849"/>
            <a:ext cx="647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  <a:r>
              <a:rPr lang="en-US" sz="2400" dirty="0" smtClean="0"/>
              <a:t>0*</a:t>
            </a:r>
            <a:endParaRPr lang="en-US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7331574" y="4474596"/>
            <a:ext cx="647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  <a:r>
              <a:rPr lang="en-US" sz="2400" dirty="0" smtClean="0"/>
              <a:t>1*</a:t>
            </a:r>
            <a:endParaRPr lang="en-US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5774664" y="3996313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  <a:r>
              <a:rPr lang="en-US" sz="2400" dirty="0" smtClean="0"/>
              <a:t>00</a:t>
            </a:r>
            <a:endParaRPr lang="en-US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5774664" y="4492573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  <a:r>
              <a:rPr lang="en-US" sz="2400" dirty="0" smtClean="0"/>
              <a:t>01</a:t>
            </a:r>
            <a:endParaRPr lang="en-US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6608896" y="5091617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  <a:r>
              <a:rPr lang="en-US" sz="2400" dirty="0" smtClean="0"/>
              <a:t>10</a:t>
            </a:r>
            <a:endParaRPr lang="en-US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6608896" y="5587877"/>
            <a:ext cx="676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  <a:r>
              <a:rPr lang="en-US" sz="2400" dirty="0" smtClean="0"/>
              <a:t>11</a:t>
            </a:r>
            <a:endParaRPr lang="en-US" sz="2400" dirty="0"/>
          </a:p>
        </p:txBody>
      </p:sp>
      <p:pic>
        <p:nvPicPr>
          <p:cNvPr id="2050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074" y="2135207"/>
            <a:ext cx="694830" cy="40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515" y="5099206"/>
            <a:ext cx="454076" cy="45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515" y="5625500"/>
            <a:ext cx="454076" cy="45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080" y="4003902"/>
            <a:ext cx="454076" cy="45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080" y="4530196"/>
            <a:ext cx="454076" cy="45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350" y="3594780"/>
            <a:ext cx="454076" cy="45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350" y="4121074"/>
            <a:ext cx="454076" cy="45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31" y="2502517"/>
            <a:ext cx="454076" cy="45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31" y="3028811"/>
            <a:ext cx="454076" cy="45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695" y="2524700"/>
            <a:ext cx="694830" cy="40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525" y="3374312"/>
            <a:ext cx="694830" cy="40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310" y="3616963"/>
            <a:ext cx="694830" cy="40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587" y="4032124"/>
            <a:ext cx="694830" cy="40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126" y="4906675"/>
            <a:ext cx="694830" cy="40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/>
          <p:cNvSpPr/>
          <p:nvPr/>
        </p:nvSpPr>
        <p:spPr>
          <a:xfrm>
            <a:off x="5868156" y="1767718"/>
            <a:ext cx="2936726" cy="7473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Datagram, Destination = 101</a:t>
            </a:r>
            <a:endParaRPr lang="en-US" sz="2400" dirty="0"/>
          </a:p>
        </p:txBody>
      </p:sp>
      <p:cxnSp>
        <p:nvCxnSpPr>
          <p:cNvPr id="63" name="Straight Arrow Connector 62"/>
          <p:cNvCxnSpPr>
            <a:stCxn id="49" idx="1"/>
            <a:endCxn id="2050" idx="3"/>
          </p:cNvCxnSpPr>
          <p:nvPr/>
        </p:nvCxnSpPr>
        <p:spPr>
          <a:xfrm flipH="1">
            <a:off x="4425904" y="2141399"/>
            <a:ext cx="1442252" cy="198663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2050" idx="1"/>
            <a:endCxn id="58" idx="3"/>
          </p:cNvCxnSpPr>
          <p:nvPr/>
        </p:nvCxnSpPr>
        <p:spPr>
          <a:xfrm flipH="1">
            <a:off x="2929525" y="2340062"/>
            <a:ext cx="801549" cy="389493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8" idx="1"/>
            <a:endCxn id="57" idx="3"/>
          </p:cNvCxnSpPr>
          <p:nvPr/>
        </p:nvCxnSpPr>
        <p:spPr>
          <a:xfrm flipH="1">
            <a:off x="1438507" y="2729555"/>
            <a:ext cx="796188" cy="526294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69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 Addressing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283B9EA5-CE9A-4950-A80C-5ADF06B45B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2127738"/>
          </a:xfrm>
        </p:spPr>
        <p:txBody>
          <a:bodyPr/>
          <a:lstStyle/>
          <a:p>
            <a:r>
              <a:rPr lang="en-US" dirty="0" smtClean="0"/>
              <a:t>IPv4: 32-bit addresses</a:t>
            </a:r>
          </a:p>
          <a:p>
            <a:pPr lvl="1"/>
            <a:r>
              <a:rPr lang="en-US" dirty="0" smtClean="0"/>
              <a:t>Usually written in dotted notation, e.g. 192.168.21.76</a:t>
            </a:r>
          </a:p>
          <a:p>
            <a:pPr lvl="1"/>
            <a:r>
              <a:rPr lang="en-US" dirty="0" smtClean="0"/>
              <a:t>Each number is a byte</a:t>
            </a:r>
          </a:p>
          <a:p>
            <a:pPr lvl="1"/>
            <a:r>
              <a:rPr lang="en-US" dirty="0" smtClean="0"/>
              <a:t>Stored in Big Endian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7273" y="5711281"/>
            <a:ext cx="1714918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11000000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487273" y="4908250"/>
            <a:ext cx="1714918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C0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487273" y="4105220"/>
            <a:ext cx="1714918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192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3347892" y="5711279"/>
            <a:ext cx="1714918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10101000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347892" y="4908248"/>
            <a:ext cx="1714918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A8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3347892" y="4105218"/>
            <a:ext cx="1714918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168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5228608" y="5711281"/>
            <a:ext cx="1714918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00010101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5228608" y="4908250"/>
            <a:ext cx="1714918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15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5228608" y="4105220"/>
            <a:ext cx="1714918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21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7095926" y="5711278"/>
            <a:ext cx="1714918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01001100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7095926" y="4908247"/>
            <a:ext cx="1714918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4C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7095926" y="4105217"/>
            <a:ext cx="1714918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76</a:t>
            </a:r>
            <a:endParaRPr lang="en-US" sz="2400" dirty="0"/>
          </a:p>
        </p:txBody>
      </p:sp>
      <p:sp>
        <p:nvSpPr>
          <p:cNvPr id="17" name="Rectangle 16"/>
          <p:cNvSpPr/>
          <p:nvPr/>
        </p:nvSpPr>
        <p:spPr>
          <a:xfrm>
            <a:off x="51372" y="4105220"/>
            <a:ext cx="1351127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 smtClean="0">
                <a:solidFill>
                  <a:schemeClr val="tx1"/>
                </a:solidFill>
              </a:rPr>
              <a:t>Decimal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371" y="4909095"/>
            <a:ext cx="1351127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 smtClean="0">
                <a:solidFill>
                  <a:schemeClr val="tx1"/>
                </a:solidFill>
              </a:rPr>
              <a:t>Hex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372" y="5711281"/>
            <a:ext cx="1351127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 smtClean="0">
                <a:solidFill>
                  <a:schemeClr val="tx1"/>
                </a:solidFill>
              </a:rPr>
              <a:t>Binary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7826" y="3615333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95210" y="3615333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8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53120" y="3615333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16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21305" y="3615332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24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11397" y="3615331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31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80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 Addressing and Forwarding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283B9EA5-CE9A-4950-A80C-5ADF06B45B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600198"/>
            <a:ext cx="8839200" cy="303953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Routing Table Requirements</a:t>
            </a:r>
          </a:p>
          <a:p>
            <a:pPr lvl="1"/>
            <a:r>
              <a:rPr lang="en-US" dirty="0" smtClean="0"/>
              <a:t>For every possible IP, give the next hop</a:t>
            </a:r>
          </a:p>
          <a:p>
            <a:pPr lvl="1"/>
            <a:r>
              <a:rPr lang="en-US" dirty="0" smtClean="0"/>
              <a:t>But for 32-bit addresses, 2</a:t>
            </a:r>
            <a:r>
              <a:rPr lang="en-US" baseline="30000" dirty="0" smtClean="0"/>
              <a:t>32</a:t>
            </a:r>
            <a:r>
              <a:rPr lang="en-US" dirty="0" smtClean="0"/>
              <a:t> possibilities!</a:t>
            </a:r>
          </a:p>
          <a:p>
            <a:pPr lvl="1"/>
            <a:r>
              <a:rPr lang="en-US" b="1" dirty="0" smtClean="0"/>
              <a:t>Too </a:t>
            </a:r>
            <a:r>
              <a:rPr lang="en-US" b="1" dirty="0"/>
              <a:t>slow</a:t>
            </a:r>
            <a:r>
              <a:rPr lang="en-US" dirty="0"/>
              <a:t>: 48GE ports and 4x10GE needs 176Gbps bandwidth</a:t>
            </a:r>
            <a:br>
              <a:rPr lang="en-US" dirty="0"/>
            </a:br>
            <a:r>
              <a:rPr lang="en-US" b="1" dirty="0" smtClean="0"/>
              <a:t>DRAM</a:t>
            </a:r>
            <a:r>
              <a:rPr lang="en-US" dirty="0" smtClean="0"/>
              <a:t>: </a:t>
            </a:r>
            <a:r>
              <a:rPr lang="en-US" dirty="0"/>
              <a:t>~1-6 </a:t>
            </a:r>
            <a:r>
              <a:rPr lang="en-US" dirty="0" err="1" smtClean="0"/>
              <a:t>Gbps</a:t>
            </a:r>
            <a:r>
              <a:rPr lang="en-US" dirty="0"/>
              <a:t>;</a:t>
            </a:r>
            <a:r>
              <a:rPr lang="en-US" dirty="0" smtClean="0"/>
              <a:t> </a:t>
            </a:r>
            <a:r>
              <a:rPr lang="en-US" b="1" dirty="0" smtClean="0"/>
              <a:t>TCAM</a:t>
            </a:r>
            <a:r>
              <a:rPr lang="en-US" dirty="0" smtClean="0"/>
              <a:t> is fast, but 400x cost of DRAM</a:t>
            </a:r>
          </a:p>
          <a:p>
            <a:r>
              <a:rPr lang="en-US" dirty="0" smtClean="0"/>
              <a:t>Hierarchical address scheme</a:t>
            </a:r>
          </a:p>
          <a:p>
            <a:pPr lvl="1"/>
            <a:r>
              <a:rPr lang="en-US" dirty="0" smtClean="0"/>
              <a:t>Separate the address into a network and a host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726191" y="4903272"/>
            <a:ext cx="1714918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Host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011273" y="4903272"/>
            <a:ext cx="1714918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Network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95673" y="4903272"/>
            <a:ext cx="715600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Pfx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996226" y="4406327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41661" y="4406327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31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 flipH="1">
            <a:off x="1375664" y="5820146"/>
            <a:ext cx="2178028" cy="954107"/>
            <a:chOff x="1219204" y="4876799"/>
            <a:chExt cx="5227799" cy="1384995"/>
          </a:xfrm>
        </p:grpSpPr>
        <p:sp>
          <p:nvSpPr>
            <p:cNvPr id="11" name="Rectangular Callout 10"/>
            <p:cNvSpPr/>
            <p:nvPr/>
          </p:nvSpPr>
          <p:spPr>
            <a:xfrm>
              <a:off x="1265401" y="4876799"/>
              <a:ext cx="5181602" cy="1384995"/>
            </a:xfrm>
            <a:prstGeom prst="wedgeRectCallout">
              <a:avLst>
                <a:gd name="adj1" fmla="val -41847"/>
                <a:gd name="adj2" fmla="val -89419"/>
              </a:avLst>
            </a:prstGeom>
            <a:solidFill>
              <a:srgbClr val="DA1F28"/>
            </a:solidFill>
            <a:ln w="38100" cap="flat" cmpd="sng" algn="ctr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19204" y="4876799"/>
              <a:ext cx="518160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Known by </a:t>
              </a:r>
              <a:r>
                <a:rPr kumimoji="0" 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all</a:t>
              </a: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 routers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 flipH="1">
            <a:off x="5265346" y="5820145"/>
            <a:ext cx="2735653" cy="1384995"/>
            <a:chOff x="1219204" y="4876799"/>
            <a:chExt cx="5227799" cy="2010478"/>
          </a:xfrm>
        </p:grpSpPr>
        <p:sp>
          <p:nvSpPr>
            <p:cNvPr id="14" name="Rectangular Callout 13"/>
            <p:cNvSpPr/>
            <p:nvPr/>
          </p:nvSpPr>
          <p:spPr>
            <a:xfrm>
              <a:off x="1265400" y="4876799"/>
              <a:ext cx="5181603" cy="1384995"/>
            </a:xfrm>
            <a:prstGeom prst="wedgeRectCallout">
              <a:avLst>
                <a:gd name="adj1" fmla="val 40162"/>
                <a:gd name="adj2" fmla="val -92686"/>
              </a:avLst>
            </a:prstGeom>
            <a:solidFill>
              <a:srgbClr val="DA1F28"/>
            </a:solidFill>
            <a:ln w="38100" cap="flat" cmpd="sng" algn="ctr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19204" y="4876799"/>
              <a:ext cx="5181602" cy="2010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Known by edge (LAN) routers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341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Classes of IP Addresses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283B9EA5-CE9A-4950-A80C-5ADF06B45B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926" y="1942699"/>
            <a:ext cx="1842978" cy="540327"/>
          </a:xfrm>
        </p:spPr>
        <p:txBody>
          <a:bodyPr/>
          <a:lstStyle/>
          <a:p>
            <a:r>
              <a:rPr lang="en-US" dirty="0" smtClean="0"/>
              <a:t>Class 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21498" y="1961572"/>
            <a:ext cx="3463766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Host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278549" y="1961572"/>
            <a:ext cx="1024905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Ntwk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920749" y="1961572"/>
            <a:ext cx="357800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0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621302" y="1464627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81822" y="1464625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31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2313" y="1464627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4008" y="1464626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3402" y="1847523"/>
            <a:ext cx="20826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Example: MIT</a:t>
            </a:r>
          </a:p>
          <a:p>
            <a:pPr algn="ctr"/>
            <a:r>
              <a:rPr lang="en-US" sz="2400" dirty="0" smtClean="0"/>
              <a:t>18.*.*.*</a:t>
            </a:r>
            <a:endParaRPr lang="en-US" sz="2400" dirty="0"/>
          </a:p>
        </p:txBody>
      </p:sp>
      <p:sp>
        <p:nvSpPr>
          <p:cNvPr id="13" name="Left Brace 12"/>
          <p:cNvSpPr/>
          <p:nvPr/>
        </p:nvSpPr>
        <p:spPr>
          <a:xfrm rot="16200000">
            <a:off x="2467761" y="2080299"/>
            <a:ext cx="282657" cy="138872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131440" y="2832865"/>
            <a:ext cx="973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1-126</a:t>
            </a:r>
            <a:endParaRPr lang="en-US" sz="2400" dirty="0"/>
          </a:p>
        </p:txBody>
      </p:sp>
      <p:sp>
        <p:nvSpPr>
          <p:cNvPr id="15" name="Content Placeholder 3"/>
          <p:cNvSpPr txBox="1">
            <a:spLocks/>
          </p:cNvSpPr>
          <p:nvPr/>
        </p:nvSpPr>
        <p:spPr>
          <a:xfrm>
            <a:off x="6926" y="3617648"/>
            <a:ext cx="1842978" cy="54032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Class B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392612" y="3636521"/>
            <a:ext cx="2392651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Host</a:t>
            </a:r>
            <a:endParaRPr lang="en-US" sz="2400" dirty="0"/>
          </a:p>
        </p:txBody>
      </p:sp>
      <p:sp>
        <p:nvSpPr>
          <p:cNvPr id="17" name="Rectangle 16"/>
          <p:cNvSpPr/>
          <p:nvPr/>
        </p:nvSpPr>
        <p:spPr>
          <a:xfrm>
            <a:off x="2483423" y="3636521"/>
            <a:ext cx="1909189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Network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1920748" y="3636521"/>
            <a:ext cx="562675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10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1621302" y="3139576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85817" y="3139576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31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77050" y="3139576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2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084668" y="3139576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16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32486" y="3522472"/>
            <a:ext cx="2204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Example: NEU</a:t>
            </a:r>
          </a:p>
          <a:p>
            <a:pPr algn="ctr"/>
            <a:r>
              <a:rPr lang="en-US" sz="2400" dirty="0" smtClean="0"/>
              <a:t>129.10.*.*</a:t>
            </a:r>
            <a:endParaRPr lang="en-US" sz="2400" dirty="0"/>
          </a:p>
        </p:txBody>
      </p:sp>
      <p:sp>
        <p:nvSpPr>
          <p:cNvPr id="24" name="Left Brace 23"/>
          <p:cNvSpPr/>
          <p:nvPr/>
        </p:nvSpPr>
        <p:spPr>
          <a:xfrm rot="16200000">
            <a:off x="2476785" y="3746224"/>
            <a:ext cx="282657" cy="140677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59919" y="4497422"/>
            <a:ext cx="131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128-191</a:t>
            </a:r>
            <a:endParaRPr lang="en-US" sz="2400" dirty="0"/>
          </a:p>
        </p:txBody>
      </p:sp>
      <p:sp>
        <p:nvSpPr>
          <p:cNvPr id="26" name="Rectangle 25"/>
          <p:cNvSpPr/>
          <p:nvPr/>
        </p:nvSpPr>
        <p:spPr>
          <a:xfrm>
            <a:off x="3022052" y="3139575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7" name="Content Placeholder 3"/>
          <p:cNvSpPr txBox="1">
            <a:spLocks/>
          </p:cNvSpPr>
          <p:nvPr/>
        </p:nvSpPr>
        <p:spPr>
          <a:xfrm>
            <a:off x="0" y="5305139"/>
            <a:ext cx="1842978" cy="54032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Class C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5582011" y="5324012"/>
            <a:ext cx="1196326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Host</a:t>
            </a:r>
            <a:endParaRPr lang="en-US" sz="2400" dirty="0"/>
          </a:p>
        </p:txBody>
      </p:sp>
      <p:sp>
        <p:nvSpPr>
          <p:cNvPr id="29" name="Rectangle 28"/>
          <p:cNvSpPr/>
          <p:nvPr/>
        </p:nvSpPr>
        <p:spPr>
          <a:xfrm>
            <a:off x="2618113" y="5324012"/>
            <a:ext cx="2963898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Network</a:t>
            </a:r>
            <a:endParaRPr lang="en-US" sz="2400" dirty="0"/>
          </a:p>
        </p:txBody>
      </p:sp>
      <p:sp>
        <p:nvSpPr>
          <p:cNvPr id="30" name="Rectangle 29"/>
          <p:cNvSpPr/>
          <p:nvPr/>
        </p:nvSpPr>
        <p:spPr>
          <a:xfrm>
            <a:off x="1913821" y="5324012"/>
            <a:ext cx="695267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110</a:t>
            </a:r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1614376" y="4827067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0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78891" y="4827067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31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309641" y="4827067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82564" y="4827067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24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47579" y="5209963"/>
            <a:ext cx="17604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Example:</a:t>
            </a:r>
          </a:p>
          <a:p>
            <a:pPr algn="ctr"/>
            <a:r>
              <a:rPr lang="en-US" sz="2400" dirty="0" smtClean="0"/>
              <a:t>216.63.78.*</a:t>
            </a:r>
            <a:endParaRPr lang="en-US" sz="2400" dirty="0"/>
          </a:p>
        </p:txBody>
      </p:sp>
      <p:sp>
        <p:nvSpPr>
          <p:cNvPr id="36" name="Left Brace 35"/>
          <p:cNvSpPr/>
          <p:nvPr/>
        </p:nvSpPr>
        <p:spPr>
          <a:xfrm rot="16200000">
            <a:off x="2469858" y="5464889"/>
            <a:ext cx="282657" cy="140677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952995" y="6257650"/>
            <a:ext cx="131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192-223</a:t>
            </a:r>
            <a:endParaRPr lang="en-US" sz="2400" dirty="0"/>
          </a:p>
        </p:txBody>
      </p:sp>
      <p:sp>
        <p:nvSpPr>
          <p:cNvPr id="38" name="Rectangle 37"/>
          <p:cNvSpPr/>
          <p:nvPr/>
        </p:nvSpPr>
        <p:spPr>
          <a:xfrm>
            <a:off x="3015126" y="4827066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84668" y="1464624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16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084668" y="4827065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16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82564" y="3139576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24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282563" y="1464623"/>
            <a:ext cx="598893" cy="60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24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62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  <p:bldP spid="36" grpId="0" animBg="1"/>
      <p:bldP spid="37" grpId="0"/>
      <p:bldP spid="38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You Get IPs?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283B9EA5-CE9A-4950-A80C-5ADF06B45B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IP address ranges controlled by IANA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 smtClean="0"/>
              <a:t>Internet Assigned Number Authority</a:t>
            </a:r>
          </a:p>
          <a:p>
            <a:pPr lvl="1"/>
            <a:r>
              <a:rPr lang="en-US" dirty="0" smtClean="0"/>
              <a:t>Roots go back to 1972, ARPANET, UCLA</a:t>
            </a:r>
          </a:p>
          <a:p>
            <a:pPr lvl="1"/>
            <a:r>
              <a:rPr lang="en-US" dirty="0" smtClean="0"/>
              <a:t>Today, part of ICANN</a:t>
            </a:r>
          </a:p>
          <a:p>
            <a:r>
              <a:rPr lang="en-US" dirty="0" smtClean="0"/>
              <a:t>IANA grants IPs to regional authorities</a:t>
            </a:r>
          </a:p>
          <a:p>
            <a:pPr lvl="1"/>
            <a:r>
              <a:rPr lang="en-US" dirty="0" smtClean="0"/>
              <a:t>ARIN (American Registry of Internet Numbers) may grant you a range of IPs</a:t>
            </a:r>
          </a:p>
          <a:p>
            <a:pPr lvl="1"/>
            <a:r>
              <a:rPr lang="en-US" dirty="0" smtClean="0"/>
              <a:t>You may then advertise routes to your new IP range</a:t>
            </a:r>
          </a:p>
          <a:p>
            <a:pPr lvl="1"/>
            <a:r>
              <a:rPr lang="en-US" dirty="0" smtClean="0"/>
              <a:t>There are now secondary markets, auctions, …</a:t>
            </a:r>
          </a:p>
        </p:txBody>
      </p:sp>
      <p:pic>
        <p:nvPicPr>
          <p:cNvPr id="3074" name="Picture 2" descr="D:\Classes\CS 4700\assets\FileIA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2" y="2146412"/>
            <a:ext cx="3561822" cy="135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76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Level Hierarchy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283B9EA5-CE9A-4950-A80C-5ADF06B45BB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325" y="2085340"/>
            <a:ext cx="920750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85" y="3731260"/>
            <a:ext cx="920750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725" y="3731260"/>
            <a:ext cx="920750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:\Classes\CS 4700\assets\Rou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725" y="3731260"/>
            <a:ext cx="920750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86235" y="3179930"/>
            <a:ext cx="9626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/>
              <a:t>…</a:t>
            </a:r>
            <a:endParaRPr lang="en-US" sz="6000" dirty="0"/>
          </a:p>
        </p:txBody>
      </p:sp>
      <p:cxnSp>
        <p:nvCxnSpPr>
          <p:cNvPr id="10" name="Straight Arrow Connector 9"/>
          <p:cNvCxnSpPr>
            <a:stCxn id="1026" idx="2"/>
            <a:endCxn id="6" idx="0"/>
          </p:cNvCxnSpPr>
          <p:nvPr/>
        </p:nvCxnSpPr>
        <p:spPr>
          <a:xfrm flipH="1">
            <a:off x="1901860" y="2628265"/>
            <a:ext cx="1767840" cy="110299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26" idx="2"/>
            <a:endCxn id="7" idx="0"/>
          </p:cNvCxnSpPr>
          <p:nvPr/>
        </p:nvCxnSpPr>
        <p:spPr>
          <a:xfrm flipH="1">
            <a:off x="3314100" y="2628265"/>
            <a:ext cx="355600" cy="110299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26" idx="2"/>
            <a:endCxn id="8" idx="0"/>
          </p:cNvCxnSpPr>
          <p:nvPr/>
        </p:nvCxnSpPr>
        <p:spPr>
          <a:xfrm>
            <a:off x="3669700" y="2628265"/>
            <a:ext cx="1676400" cy="110299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241" y="5366546"/>
            <a:ext cx="739645" cy="73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902" y="5366545"/>
            <a:ext cx="739645" cy="73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 descr="D:\Classes\CS 4700\assets\black_serv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029" y="5366544"/>
            <a:ext cx="739645" cy="73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5341657" y="5000954"/>
            <a:ext cx="9626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/>
              <a:t>…</a:t>
            </a:r>
            <a:endParaRPr lang="en-US" sz="6000" dirty="0"/>
          </a:p>
        </p:txBody>
      </p:sp>
      <p:cxnSp>
        <p:nvCxnSpPr>
          <p:cNvPr id="22" name="Straight Arrow Connector 21"/>
          <p:cNvCxnSpPr>
            <a:stCxn id="8" idx="2"/>
            <a:endCxn id="18" idx="0"/>
          </p:cNvCxnSpPr>
          <p:nvPr/>
        </p:nvCxnSpPr>
        <p:spPr>
          <a:xfrm flipH="1">
            <a:off x="4018064" y="4274185"/>
            <a:ext cx="1328036" cy="109236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2"/>
            <a:endCxn id="19" idx="0"/>
          </p:cNvCxnSpPr>
          <p:nvPr/>
        </p:nvCxnSpPr>
        <p:spPr>
          <a:xfrm flipH="1">
            <a:off x="4885725" y="4274185"/>
            <a:ext cx="460375" cy="10923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2"/>
            <a:endCxn id="20" idx="0"/>
          </p:cNvCxnSpPr>
          <p:nvPr/>
        </p:nvCxnSpPr>
        <p:spPr>
          <a:xfrm>
            <a:off x="5346100" y="4274185"/>
            <a:ext cx="1428752" cy="109235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566433" y="2234192"/>
            <a:ext cx="1498862" cy="60290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Host</a:t>
            </a:r>
            <a:endParaRPr lang="en-US" sz="2400" dirty="0"/>
          </a:p>
        </p:txBody>
      </p:sp>
      <p:sp>
        <p:nvSpPr>
          <p:cNvPr id="32" name="Rectangle 31"/>
          <p:cNvSpPr/>
          <p:nvPr/>
        </p:nvSpPr>
        <p:spPr>
          <a:xfrm>
            <a:off x="6261135" y="2234192"/>
            <a:ext cx="1305298" cy="602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Network</a:t>
            </a:r>
            <a:endParaRPr lang="en-US" sz="2400" dirty="0"/>
          </a:p>
        </p:txBody>
      </p:sp>
      <p:sp>
        <p:nvSpPr>
          <p:cNvPr id="37" name="Curved Up Arrow 36"/>
          <p:cNvSpPr/>
          <p:nvPr/>
        </p:nvSpPr>
        <p:spPr>
          <a:xfrm rot="10800000">
            <a:off x="2785779" y="853440"/>
            <a:ext cx="4511675" cy="1239520"/>
          </a:xfrm>
          <a:prstGeom prst="curvedUpArrow">
            <a:avLst>
              <a:gd name="adj1" fmla="val 94758"/>
              <a:gd name="adj2" fmla="val 137889"/>
              <a:gd name="adj3" fmla="val 364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stCxn id="1026" idx="2"/>
            <a:endCxn id="8" idx="0"/>
          </p:cNvCxnSpPr>
          <p:nvPr/>
        </p:nvCxnSpPr>
        <p:spPr>
          <a:xfrm>
            <a:off x="3669700" y="2628265"/>
            <a:ext cx="1676400" cy="1102995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Bent Arrow 40"/>
          <p:cNvSpPr/>
          <p:nvPr/>
        </p:nvSpPr>
        <p:spPr>
          <a:xfrm rot="10800000">
            <a:off x="5906805" y="2966719"/>
            <a:ext cx="2782570" cy="1544320"/>
          </a:xfrm>
          <a:prstGeom prst="bentArrow">
            <a:avLst>
              <a:gd name="adj1" fmla="val 41319"/>
              <a:gd name="adj2" fmla="val 37433"/>
              <a:gd name="adj3" fmla="val 3821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/>
          <p:cNvCxnSpPr>
            <a:stCxn id="8" idx="2"/>
            <a:endCxn id="19" idx="0"/>
          </p:cNvCxnSpPr>
          <p:nvPr/>
        </p:nvCxnSpPr>
        <p:spPr>
          <a:xfrm flipH="1">
            <a:off x="4885725" y="4274185"/>
            <a:ext cx="460375" cy="1092360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Left Brace 44"/>
          <p:cNvSpPr/>
          <p:nvPr/>
        </p:nvSpPr>
        <p:spPr>
          <a:xfrm rot="16200000">
            <a:off x="5177510" y="4790136"/>
            <a:ext cx="368300" cy="3383917"/>
          </a:xfrm>
          <a:prstGeom prst="leftBrac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 flipH="1">
            <a:off x="544009" y="5127584"/>
            <a:ext cx="2770089" cy="1456095"/>
            <a:chOff x="1219200" y="4876799"/>
            <a:chExt cx="5181605" cy="1384995"/>
          </a:xfrm>
        </p:grpSpPr>
        <p:sp>
          <p:nvSpPr>
            <p:cNvPr id="48" name="Rectangular Callout 47"/>
            <p:cNvSpPr/>
            <p:nvPr/>
          </p:nvSpPr>
          <p:spPr>
            <a:xfrm>
              <a:off x="1219200" y="4876799"/>
              <a:ext cx="5181601" cy="1384995"/>
            </a:xfrm>
            <a:prstGeom prst="wedgeRectCallout">
              <a:avLst>
                <a:gd name="adj1" fmla="val -68770"/>
                <a:gd name="adj2" fmla="val 17976"/>
              </a:avLst>
            </a:prstGeom>
            <a:solidFill>
              <a:srgbClr val="DA1F28"/>
            </a:solidFill>
            <a:ln w="38100" cap="flat" cmpd="sng" algn="ctr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219203" y="4876799"/>
              <a:ext cx="5181602" cy="883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kern="0" dirty="0" err="1" smtClean="0">
                  <a:solidFill>
                    <a:sysClr val="window" lastClr="FFFFFF"/>
                  </a:solidFill>
                </a:rPr>
                <a:t>Subtree</a:t>
              </a:r>
              <a:r>
                <a:rPr lang="en-US" sz="2800" kern="0" dirty="0" smtClean="0">
                  <a:solidFill>
                    <a:sysClr val="window" lastClr="FFFFFF"/>
                  </a:solidFill>
                </a:rPr>
                <a:t> size determined by network class</a:t>
              </a:r>
              <a:endPara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5562635" y="2234192"/>
            <a:ext cx="688340" cy="602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Pfx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636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1" grpId="0" animBg="1"/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Sizes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283B9EA5-CE9A-4950-A80C-5ADF06B45B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73980744"/>
              </p:ext>
            </p:extLst>
          </p:nvPr>
        </p:nvGraphicFramePr>
        <p:xfrm>
          <a:off x="187125" y="2396664"/>
          <a:ext cx="8783256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724"/>
                <a:gridCol w="891251"/>
                <a:gridCol w="1122744"/>
                <a:gridCol w="2777924"/>
                <a:gridCol w="319461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Prefix Bits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Network Bits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Number</a:t>
                      </a:r>
                      <a:r>
                        <a:rPr lang="en-US" baseline="0" dirty="0" smtClean="0"/>
                        <a:t> of Classes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Hosts</a:t>
                      </a:r>
                      <a:r>
                        <a:rPr lang="en-US" baseline="0" dirty="0" smtClean="0"/>
                        <a:t> per Class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7</a:t>
                      </a:r>
                      <a:r>
                        <a:rPr lang="en-US" baseline="0" dirty="0" smtClean="0"/>
                        <a:t> – 2 = 126</a:t>
                      </a:r>
                    </a:p>
                    <a:p>
                      <a:r>
                        <a:rPr lang="en-US" baseline="0" dirty="0" smtClean="0"/>
                        <a:t>(0 and 127 are reserved)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24</a:t>
                      </a:r>
                      <a:r>
                        <a:rPr lang="en-US" dirty="0" smtClean="0"/>
                        <a:t> – 2 = 16,777,214</a:t>
                      </a:r>
                    </a:p>
                    <a:p>
                      <a:r>
                        <a:rPr lang="en-US" dirty="0" smtClean="0"/>
                        <a:t>(All 0 and</a:t>
                      </a:r>
                      <a:r>
                        <a:rPr lang="en-US" baseline="0" dirty="0" smtClean="0"/>
                        <a:t> all 1 are reserved)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14</a:t>
                      </a:r>
                      <a:r>
                        <a:rPr lang="en-US" dirty="0" smtClean="0"/>
                        <a:t> = 16,398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16</a:t>
                      </a:r>
                      <a:r>
                        <a:rPr lang="en-US" dirty="0" smtClean="0"/>
                        <a:t> – 2 = 65,534</a:t>
                      </a:r>
                    </a:p>
                    <a:p>
                      <a:r>
                        <a:rPr lang="en-US" dirty="0" smtClean="0"/>
                        <a:t>(All 0 and</a:t>
                      </a:r>
                      <a:r>
                        <a:rPr lang="en-US" baseline="0" dirty="0" smtClean="0"/>
                        <a:t> all 1 are reserved)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21</a:t>
                      </a:r>
                      <a:r>
                        <a:rPr lang="en-US" dirty="0" smtClean="0"/>
                        <a:t> = 2,097,512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8</a:t>
                      </a:r>
                      <a:r>
                        <a:rPr lang="en-US" dirty="0" smtClean="0"/>
                        <a:t> – 2 = 254</a:t>
                      </a:r>
                    </a:p>
                    <a:p>
                      <a:r>
                        <a:rPr lang="en-US" dirty="0" smtClean="0"/>
                        <a:t>(All 0 and</a:t>
                      </a:r>
                      <a:r>
                        <a:rPr lang="en-US" baseline="0" dirty="0" smtClean="0"/>
                        <a:t> all 1 are reserved)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Total: 2,114,036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 flipH="1">
            <a:off x="2098952" y="5591628"/>
            <a:ext cx="2330741" cy="954107"/>
            <a:chOff x="1219200" y="4876799"/>
            <a:chExt cx="5181605" cy="1384995"/>
          </a:xfrm>
        </p:grpSpPr>
        <p:sp>
          <p:nvSpPr>
            <p:cNvPr id="7" name="Rectangular Callout 6"/>
            <p:cNvSpPr/>
            <p:nvPr/>
          </p:nvSpPr>
          <p:spPr>
            <a:xfrm>
              <a:off x="1219200" y="4876799"/>
              <a:ext cx="5181601" cy="1384995"/>
            </a:xfrm>
            <a:prstGeom prst="wedgeRectCallout">
              <a:avLst>
                <a:gd name="adj1" fmla="val -33325"/>
                <a:gd name="adj2" fmla="val -84663"/>
              </a:avLst>
            </a:prstGeom>
            <a:solidFill>
              <a:srgbClr val="DA1F28"/>
            </a:solidFill>
            <a:ln w="38100" cap="flat" cmpd="sng" algn="ctr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19204" y="4876799"/>
              <a:ext cx="518160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Too many network</a:t>
              </a:r>
              <a:r>
                <a:rPr kumimoji="0" lang="en-US" sz="2800" b="0" i="0" u="none" strike="noStrike" kern="0" cap="none" spc="0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 IDs</a:t>
              </a:r>
              <a:endPara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 flipH="1">
            <a:off x="5006126" y="5591627"/>
            <a:ext cx="2330741" cy="954107"/>
            <a:chOff x="1219200" y="4876799"/>
            <a:chExt cx="5181605" cy="1384995"/>
          </a:xfrm>
        </p:grpSpPr>
        <p:sp>
          <p:nvSpPr>
            <p:cNvPr id="10" name="Rectangular Callout 9"/>
            <p:cNvSpPr/>
            <p:nvPr/>
          </p:nvSpPr>
          <p:spPr>
            <a:xfrm>
              <a:off x="1219200" y="4876799"/>
              <a:ext cx="5181601" cy="1384995"/>
            </a:xfrm>
            <a:prstGeom prst="wedgeRectCallout">
              <a:avLst>
                <a:gd name="adj1" fmla="val -32332"/>
                <a:gd name="adj2" fmla="val -148960"/>
              </a:avLst>
            </a:prstGeom>
            <a:solidFill>
              <a:srgbClr val="DA1F28"/>
            </a:solidFill>
            <a:ln w="38100" cap="flat" cmpd="sng" algn="ctr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19204" y="4876799"/>
              <a:ext cx="518160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Too small to be useful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 flipH="1">
            <a:off x="5214911" y="1736196"/>
            <a:ext cx="2330741" cy="586707"/>
            <a:chOff x="1219200" y="4876799"/>
            <a:chExt cx="5181605" cy="1384995"/>
          </a:xfrm>
        </p:grpSpPr>
        <p:sp>
          <p:nvSpPr>
            <p:cNvPr id="13" name="Rectangular Callout 12"/>
            <p:cNvSpPr/>
            <p:nvPr/>
          </p:nvSpPr>
          <p:spPr>
            <a:xfrm>
              <a:off x="1219200" y="4876799"/>
              <a:ext cx="5181601" cy="1384995"/>
            </a:xfrm>
            <a:prstGeom prst="wedgeRectCallout">
              <a:avLst>
                <a:gd name="adj1" fmla="val -25876"/>
                <a:gd name="adj2" fmla="val 173012"/>
              </a:avLst>
            </a:prstGeom>
            <a:solidFill>
              <a:srgbClr val="DA1F28"/>
            </a:solidFill>
            <a:ln w="38100" cap="flat" cmpd="sng" algn="ctr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19204" y="4876799"/>
              <a:ext cx="5181601" cy="759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</a:rPr>
                <a:t>Way too big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196771" y="3020992"/>
            <a:ext cx="8750460" cy="648183"/>
          </a:xfrm>
          <a:prstGeom prst="rect">
            <a:avLst/>
          </a:prstGeom>
          <a:noFill/>
          <a:ln w="76200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98696" y="3647967"/>
            <a:ext cx="8750460" cy="648183"/>
          </a:xfrm>
          <a:prstGeom prst="rect">
            <a:avLst/>
          </a:prstGeom>
          <a:noFill/>
          <a:ln w="76200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00621" y="4298092"/>
            <a:ext cx="8750460" cy="648183"/>
          </a:xfrm>
          <a:prstGeom prst="rect">
            <a:avLst/>
          </a:prstGeom>
          <a:noFill/>
          <a:ln w="76200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70990</TotalTime>
  <Words>448</Words>
  <Application>Microsoft Office PowerPoint</Application>
  <PresentationFormat>On-screen Show (4:3)</PresentationFormat>
  <Paragraphs>170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Median</vt:lpstr>
      <vt:lpstr>Possible Addressing Schemes</vt:lpstr>
      <vt:lpstr>Binary Hierarchy Example</vt:lpstr>
      <vt:lpstr>IP Addressing</vt:lpstr>
      <vt:lpstr>IP Addressing and Forwarding</vt:lpstr>
      <vt:lpstr>Classes of IP Addresses</vt:lpstr>
      <vt:lpstr>How Do You Get IPs?</vt:lpstr>
      <vt:lpstr>Two Level Hierarchy</vt:lpstr>
      <vt:lpstr>Class Sizes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 Wilson</dc:creator>
  <cp:lastModifiedBy>ismail - [2010]</cp:lastModifiedBy>
  <cp:revision>922</cp:revision>
  <cp:lastPrinted>2012-08-22T04:00:45Z</cp:lastPrinted>
  <dcterms:created xsi:type="dcterms:W3CDTF">2012-01-03T02:22:46Z</dcterms:created>
  <dcterms:modified xsi:type="dcterms:W3CDTF">2022-01-26T06:24:37Z</dcterms:modified>
</cp:coreProperties>
</file>