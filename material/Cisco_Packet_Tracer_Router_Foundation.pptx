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7" r:id="rId8"/>
    <p:sldId id="268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Basic Networking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34264"/>
            <a:ext cx="8229600" cy="28636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800" dirty="0"/>
              <a:t>Course: </a:t>
            </a:r>
            <a:r>
              <a:rPr lang="en-US" sz="2800" dirty="0"/>
              <a:t>CSE 320 </a:t>
            </a:r>
            <a:r>
              <a:rPr sz="2800" dirty="0"/>
              <a:t>Computer Networks</a:t>
            </a:r>
            <a:r>
              <a:rPr lang="en-US" sz="2800" dirty="0"/>
              <a:t> Lab</a:t>
            </a:r>
            <a:endParaRPr sz="2800" dirty="0"/>
          </a:p>
          <a:p>
            <a:pPr marL="0" indent="0" algn="ctr"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0613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What is an IP Address?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69121"/>
            <a:ext cx="8229600" cy="1638442"/>
          </a:xfrm>
        </p:spPr>
        <p:txBody>
          <a:bodyPr>
            <a:normAutofit/>
          </a:bodyPr>
          <a:lstStyle/>
          <a:p>
            <a:pPr algn="just"/>
            <a:r>
              <a:rPr sz="2800" dirty="0"/>
              <a:t>An IP address is a logical numerical identifier assigned to a device in a network. It allows devices to locate and communicate with each other.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19D0E-DB7E-8247-1921-F1ECF6B3F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739" y="3923071"/>
            <a:ext cx="4099915" cy="19235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IPv4 Address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5013"/>
            <a:ext cx="8229600" cy="1585452"/>
          </a:xfrm>
        </p:spPr>
        <p:txBody>
          <a:bodyPr>
            <a:normAutofit/>
          </a:bodyPr>
          <a:lstStyle/>
          <a:p>
            <a:pPr algn="just"/>
            <a:r>
              <a:rPr sz="2800" dirty="0"/>
              <a:t>IPv4 addresses use 32 bits and are written in dotted decimal notation. Example: 192.168.1.1. Each octet ranges from 0 to 255.</a:t>
            </a:r>
          </a:p>
        </p:txBody>
      </p:sp>
      <p:sp>
        <p:nvSpPr>
          <p:cNvPr id="4" name="AutoShape 2" descr="IPv4-address-format">
            <a:extLst>
              <a:ext uri="{FF2B5EF4-FFF2-40B4-BE49-F238E27FC236}">
                <a16:creationId xmlns:a16="http://schemas.microsoft.com/office/drawing/2014/main" id="{652532A3-8C32-65FA-B37D-0955BEC109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1895168" cy="189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6F55E4-183D-C698-F2CA-AD108266E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76600"/>
            <a:ext cx="7620000" cy="31340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Network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568"/>
            <a:ext cx="8229600" cy="1585451"/>
          </a:xfrm>
        </p:spPr>
        <p:txBody>
          <a:bodyPr>
            <a:normAutofit/>
          </a:bodyPr>
          <a:lstStyle/>
          <a:p>
            <a:pPr algn="just"/>
            <a:r>
              <a:rPr sz="2800" dirty="0"/>
              <a:t>IPv4 addresses are divided into classes. Class A (1–126), Class B (128–191), Class C (192–223). Each class has a default subnet mask.</a:t>
            </a:r>
          </a:p>
        </p:txBody>
      </p:sp>
      <p:pic>
        <p:nvPicPr>
          <p:cNvPr id="2050" name="Picture 2" descr="IP Addressing">
            <a:extLst>
              <a:ext uri="{FF2B5EF4-FFF2-40B4-BE49-F238E27FC236}">
                <a16:creationId xmlns:a16="http://schemas.microsoft.com/office/drawing/2014/main" id="{267523D9-D7AC-C410-03ED-5730425D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180" y="2939845"/>
            <a:ext cx="6715433" cy="348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Subnet Mask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4729"/>
            <a:ext cx="8229600" cy="1575619"/>
          </a:xfrm>
        </p:spPr>
        <p:txBody>
          <a:bodyPr>
            <a:normAutofit/>
          </a:bodyPr>
          <a:lstStyle/>
          <a:p>
            <a:pPr algn="just"/>
            <a:r>
              <a:rPr sz="2800" dirty="0"/>
              <a:t>A subnet mask determines the network and host portion of an IP address. It helps devices identify whether another device is on the same network.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C4C628E-0A05-A3A8-2E8C-BFE64F02E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71" y="2760918"/>
            <a:ext cx="5850194" cy="375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Default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5116"/>
          </a:xfrm>
        </p:spPr>
        <p:txBody>
          <a:bodyPr>
            <a:normAutofit/>
          </a:bodyPr>
          <a:lstStyle/>
          <a:p>
            <a:pPr algn="just"/>
            <a:r>
              <a:rPr sz="2800" dirty="0"/>
              <a:t>The default gateway is the router interface IP address. It allows devices to send data outside their local network.</a:t>
            </a:r>
          </a:p>
        </p:txBody>
      </p:sp>
      <p:pic>
        <p:nvPicPr>
          <p:cNvPr id="4098" name="Picture 2" descr="two hosts same subnet">
            <a:extLst>
              <a:ext uri="{FF2B5EF4-FFF2-40B4-BE49-F238E27FC236}">
                <a16:creationId xmlns:a16="http://schemas.microsoft.com/office/drawing/2014/main" id="{6330B485-CDAA-351A-91BB-478DE7C52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3666818"/>
            <a:ext cx="61150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76083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Subnetting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94604"/>
            <a:ext cx="8229600" cy="138880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dirty="0"/>
              <a:t>Subnetting is the process of dividing a large IP network into smaller logical networks called subnets. Each subnet allows devices to communicate efficiently, improving network performance, security, and manageability.</a:t>
            </a:r>
            <a:endParaRPr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A0C361-9C93-4D82-74DE-1BCF7CA8E293}"/>
              </a:ext>
            </a:extLst>
          </p:cNvPr>
          <p:cNvSpPr txBox="1"/>
          <p:nvPr/>
        </p:nvSpPr>
        <p:spPr>
          <a:xfrm>
            <a:off x="570271" y="580103"/>
            <a:ext cx="7737987" cy="781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Example:  IP- 192.168.10.0 Subnet Mask- 255.255.255.224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Find out-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         a. Block size?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         b. Number of subnets?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         c. Number of hosts?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         d. What is the network address?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         e. What is the broadcast address?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         f. Find the first and last Valid host?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Ans:   Block size= block size – host per subnet</a:t>
            </a:r>
          </a:p>
          <a:p>
            <a:r>
              <a:rPr lang="en-US" dirty="0"/>
              <a:t>                  Number of subnet= 2^x (x= number of 1’s in host octet)</a:t>
            </a:r>
          </a:p>
          <a:p>
            <a:r>
              <a:rPr lang="en-US" dirty="0"/>
              <a:t>                  Number of valid host= 2^y – 2 (y= number of 0’s in host octet)</a:t>
            </a:r>
          </a:p>
          <a:p>
            <a:r>
              <a:rPr lang="en-US" dirty="0"/>
              <a:t>               </a:t>
            </a:r>
          </a:p>
          <a:p>
            <a:r>
              <a:rPr lang="en-US" dirty="0"/>
              <a:t>             subnet mask: 255.255.255.224 </a:t>
            </a:r>
          </a:p>
          <a:p>
            <a:r>
              <a:rPr lang="en-US" dirty="0"/>
              <a:t>             binary           : 11111111. 11111111. 11111111. 11100000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 size = 256-224= 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of subnet= 2^3=8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of hosts= 2^5 – 2= 32-2=30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62B7E0C-AD2F-8D29-7526-BA48A6DD97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0446744"/>
              </p:ext>
            </p:extLst>
          </p:nvPr>
        </p:nvGraphicFramePr>
        <p:xfrm>
          <a:off x="457200" y="616974"/>
          <a:ext cx="8229600" cy="25603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55290">
                  <a:extLst>
                    <a:ext uri="{9D8B030D-6E8A-4147-A177-3AD203B41FA5}">
                      <a16:colId xmlns:a16="http://schemas.microsoft.com/office/drawing/2014/main" val="1207522447"/>
                    </a:ext>
                  </a:extLst>
                </a:gridCol>
                <a:gridCol w="825910">
                  <a:extLst>
                    <a:ext uri="{9D8B030D-6E8A-4147-A177-3AD203B41FA5}">
                      <a16:colId xmlns:a16="http://schemas.microsoft.com/office/drawing/2014/main" val="1976343700"/>
                    </a:ext>
                  </a:extLst>
                </a:gridCol>
                <a:gridCol w="904568">
                  <a:extLst>
                    <a:ext uri="{9D8B030D-6E8A-4147-A177-3AD203B41FA5}">
                      <a16:colId xmlns:a16="http://schemas.microsoft.com/office/drawing/2014/main" val="751078133"/>
                    </a:ext>
                  </a:extLst>
                </a:gridCol>
                <a:gridCol w="875071">
                  <a:extLst>
                    <a:ext uri="{9D8B030D-6E8A-4147-A177-3AD203B41FA5}">
                      <a16:colId xmlns:a16="http://schemas.microsoft.com/office/drawing/2014/main" val="2076130381"/>
                    </a:ext>
                  </a:extLst>
                </a:gridCol>
                <a:gridCol w="811161">
                  <a:extLst>
                    <a:ext uri="{9D8B030D-6E8A-4147-A177-3AD203B41FA5}">
                      <a16:colId xmlns:a16="http://schemas.microsoft.com/office/drawing/2014/main" val="33399522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363566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1499971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114563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55251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544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First valid 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36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Last valid 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65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Broadcast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43018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95AE629-4DC8-1A47-3A4B-DC468C910198}"/>
              </a:ext>
            </a:extLst>
          </p:cNvPr>
          <p:cNvSpPr txBox="1"/>
          <p:nvPr/>
        </p:nvSpPr>
        <p:spPr>
          <a:xfrm>
            <a:off x="457200" y="3429000"/>
            <a:ext cx="6513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Subnet A- </a:t>
            </a:r>
          </a:p>
          <a:p>
            <a:r>
              <a:rPr lang="en-US" dirty="0"/>
              <a:t>Network address: 192.168.0.0</a:t>
            </a:r>
          </a:p>
          <a:p>
            <a:r>
              <a:rPr lang="en-US" dirty="0"/>
              <a:t>Broadcast address: 192.168.0.31</a:t>
            </a:r>
          </a:p>
          <a:p>
            <a:r>
              <a:rPr lang="en-US" dirty="0"/>
              <a:t>First and Last valid host: 192.168.0.1-30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395</Words>
  <Application>Microsoft Office PowerPoint</Application>
  <PresentationFormat>On-screen Show (4:3)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Basic Networking Concepts</vt:lpstr>
      <vt:lpstr>What is an IP Address?</vt:lpstr>
      <vt:lpstr>IPv4 Address Structure</vt:lpstr>
      <vt:lpstr>Network Classes</vt:lpstr>
      <vt:lpstr>Subnet Mask</vt:lpstr>
      <vt:lpstr>Default Gateway</vt:lpstr>
      <vt:lpstr>Subnetting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Mahfuja Akter Jarin</cp:lastModifiedBy>
  <cp:revision>5</cp:revision>
  <dcterms:created xsi:type="dcterms:W3CDTF">2013-01-27T09:14:16Z</dcterms:created>
  <dcterms:modified xsi:type="dcterms:W3CDTF">2026-01-27T17:10:44Z</dcterms:modified>
  <cp:category/>
</cp:coreProperties>
</file>